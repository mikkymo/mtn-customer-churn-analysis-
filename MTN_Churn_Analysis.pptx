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GB" sz="1200" b="1" i="0" u="none" strike="noStrike">
                <a:solidFill>
                  <a:srgbClr val="0D1B40"/>
                </a:solidFill>
                <a:latin typeface="Arial"/>
              </a:rPr>
              <a:t>Customer Churn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7B9-4DE4-9D3D-A501D20C26FE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7B9-4DE4-9D3D-A501D20C26FE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7B9-4DE4-9D3D-A501D20C26FE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7B9-4DE4-9D3D-A501D20C26FE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Retained (70.8%)</c:v>
                </c:pt>
                <c:pt idx="1">
                  <c:v>Churned (29.2%)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690</c:v>
                </c:pt>
                <c:pt idx="1">
                  <c:v>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7B9-4DE4-9D3D-A501D20C26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GB" sz="1100" b="1" i="0" u="none" strike="noStrike">
                <a:solidFill>
                  <a:srgbClr val="0D1B40"/>
                </a:solidFill>
                <a:latin typeface="Arial"/>
              </a:rPr>
              <a:t>Churn Reasons — Customer Count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D1B4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1B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552-4397-83BD-EDB42F8E6566}"/>
              </c:ext>
            </c:extLst>
          </c:dPt>
          <c:dPt>
            <c:idx val="1"/>
            <c:invertIfNegative val="0"/>
            <c:bubble3D val="0"/>
            <c:spPr>
              <a:solidFill>
                <a:srgbClr val="1E3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52-4397-83BD-EDB42F8E6566}"/>
              </c:ext>
            </c:extLst>
          </c:dPt>
          <c:dPt>
            <c:idx val="2"/>
            <c:invertIfNegative val="0"/>
            <c:bubble3D val="0"/>
            <c:spPr>
              <a:solidFill>
                <a:srgbClr val="2D52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552-4397-83BD-EDB42F8E6566}"/>
              </c:ext>
            </c:extLst>
          </c:dPt>
          <c:dPt>
            <c:idx val="3"/>
            <c:invertIfNegative val="0"/>
            <c:bubble3D val="0"/>
            <c:spPr>
              <a:solidFill>
                <a:srgbClr val="3D6B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552-4397-83BD-EDB42F8E6566}"/>
              </c:ext>
            </c:extLst>
          </c:dPt>
          <c:dPt>
            <c:idx val="4"/>
            <c:invertIfNegative val="0"/>
            <c:bubble3D val="0"/>
            <c:spPr>
              <a:solidFill>
                <a:srgbClr val="5083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552-4397-83BD-EDB42F8E6566}"/>
              </c:ext>
            </c:extLst>
          </c:dPt>
          <c:dPt>
            <c:idx val="5"/>
            <c:invertIfNegative val="0"/>
            <c:bubble3D val="0"/>
            <c:spPr>
              <a:solidFill>
                <a:srgbClr val="6B9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552-4397-83BD-EDB42F8E6566}"/>
              </c:ext>
            </c:extLst>
          </c:dPt>
          <c:dPt>
            <c:idx val="6"/>
            <c:invertIfNegative val="0"/>
            <c:bubble3D val="0"/>
            <c:spPr>
              <a:solidFill>
                <a:srgbClr val="A0BF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552-4397-83BD-EDB42F8E656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High Call Tariffs</c:v>
                </c:pt>
                <c:pt idx="1">
                  <c:v>Competitor Offers</c:v>
                </c:pt>
                <c:pt idx="2">
                  <c:v>Poor Network</c:v>
                </c:pt>
                <c:pt idx="3">
                  <c:v>Costly Data Plans</c:v>
                </c:pt>
                <c:pt idx="4">
                  <c:v>Poor Cust. Service</c:v>
                </c:pt>
                <c:pt idx="5">
                  <c:v>Fast Data Consumption</c:v>
                </c:pt>
                <c:pt idx="6">
                  <c:v>Relocation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54</c:v>
                </c:pt>
                <c:pt idx="1">
                  <c:v>52</c:v>
                </c:pt>
                <c:pt idx="2">
                  <c:v>45</c:v>
                </c:pt>
                <c:pt idx="3">
                  <c:v>40</c:v>
                </c:pt>
                <c:pt idx="4">
                  <c:v>34</c:v>
                </c:pt>
                <c:pt idx="5">
                  <c:v>32</c:v>
                </c:pt>
                <c:pt idx="6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552-4397-83BD-EDB42F8E656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US" sz="1100" b="1" i="0" u="none" strike="noStrike">
                <a:solidFill>
                  <a:srgbClr val="0D1B40"/>
                </a:solidFill>
                <a:latin typeface="Arial"/>
              </a:rPr>
              <a:t>Top 8 States by Churn Rate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E93-4C6E-BE5F-CC41889AD6F6}"/>
              </c:ext>
            </c:extLst>
          </c:dPt>
          <c:dPt>
            <c:idx val="1"/>
            <c:invertIfNegative val="0"/>
            <c:bubble3D val="0"/>
            <c:spPr>
              <a:solidFill>
                <a:srgbClr val="E55A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93-4C6E-BE5F-CC41889AD6F6}"/>
              </c:ext>
            </c:extLst>
          </c:dPt>
          <c:dPt>
            <c:idx val="2"/>
            <c:invertIfNegative val="0"/>
            <c:bubble3D val="0"/>
            <c:spPr>
              <a:solidFill>
                <a:srgbClr val="E578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93-4C6E-BE5F-CC41889AD6F6}"/>
              </c:ext>
            </c:extLst>
          </c:dPt>
          <c:dPt>
            <c:idx val="3"/>
            <c:invertIfNegative val="0"/>
            <c:bubble3D val="0"/>
            <c:spPr>
              <a:solidFill>
                <a:srgbClr val="E594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93-4C6E-BE5F-CC41889AD6F6}"/>
              </c:ext>
            </c:extLst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93-4C6E-BE5F-CC41889AD6F6}"/>
              </c:ext>
            </c:extLst>
          </c:dPt>
          <c:dPt>
            <c:idx val="5"/>
            <c:invertIfNegative val="0"/>
            <c:bubble3D val="0"/>
            <c:spPr>
              <a:solidFill>
                <a:srgbClr val="C5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93-4C6E-BE5F-CC41889AD6F6}"/>
              </c:ext>
            </c:extLst>
          </c:dPt>
          <c:dPt>
            <c:idx val="6"/>
            <c:invertIfNegative val="0"/>
            <c:bubble3D val="0"/>
            <c:spPr>
              <a:solidFill>
                <a:srgbClr val="9A8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E93-4C6E-BE5F-CC41889AD6F6}"/>
              </c:ext>
            </c:extLst>
          </c:dPt>
          <c:dPt>
            <c:idx val="7"/>
            <c:invertIfNegative val="0"/>
            <c:bubble3D val="0"/>
            <c:spPr>
              <a:solidFill>
                <a:srgbClr val="707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E93-4C6E-BE5F-CC41889AD6F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Adamawa</c:v>
                </c:pt>
                <c:pt idx="1">
                  <c:v>Imo</c:v>
                </c:pt>
                <c:pt idx="2">
                  <c:v>Kebbi</c:v>
                </c:pt>
                <c:pt idx="3">
                  <c:v>Benue</c:v>
                </c:pt>
                <c:pt idx="4">
                  <c:v>Yobe</c:v>
                </c:pt>
                <c:pt idx="5">
                  <c:v>Anambra</c:v>
                </c:pt>
                <c:pt idx="6">
                  <c:v>Abuja FCT</c:v>
                </c:pt>
                <c:pt idx="7">
                  <c:v>Edo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61.1</c:v>
                </c:pt>
                <c:pt idx="1">
                  <c:v>51.7</c:v>
                </c:pt>
                <c:pt idx="2">
                  <c:v>48.3</c:v>
                </c:pt>
                <c:pt idx="3">
                  <c:v>46.4</c:v>
                </c:pt>
                <c:pt idx="4">
                  <c:v>38.200000000000003</c:v>
                </c:pt>
                <c:pt idx="5">
                  <c:v>37.9</c:v>
                </c:pt>
                <c:pt idx="6">
                  <c:v>35.700000000000003</c:v>
                </c:pt>
                <c:pt idx="7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CE93-4C6E-BE5F-CC41889AD6F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US" sz="1100" b="1" i="0" u="none" strike="noStrike">
                <a:solidFill>
                  <a:srgbClr val="0D1B40"/>
                </a:solidFill>
                <a:latin typeface="Arial"/>
              </a:rPr>
              <a:t>Top Plans by Churn Rate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 Customers</c:v>
                </c:pt>
              </c:strCache>
            </c:strRef>
          </c:tx>
          <c:spPr>
            <a:solidFill>
              <a:srgbClr val="0D1B4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1B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7D9-4A32-A910-B186B4E0C688}"/>
              </c:ext>
            </c:extLst>
          </c:dPt>
          <c:dPt>
            <c:idx val="1"/>
            <c:invertIfNegative val="0"/>
            <c:bubble3D val="0"/>
            <c:spPr>
              <a:solidFill>
                <a:srgbClr val="1E3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D9-4A32-A910-B186B4E0C688}"/>
              </c:ext>
            </c:extLst>
          </c:dPt>
          <c:dPt>
            <c:idx val="2"/>
            <c:invertIfNegative val="0"/>
            <c:bubble3D val="0"/>
            <c:spPr>
              <a:solidFill>
                <a:srgbClr val="2D52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7D9-4A32-A910-B186B4E0C688}"/>
              </c:ext>
            </c:extLst>
          </c:dPt>
          <c:dPt>
            <c:idx val="3"/>
            <c:invertIfNegative val="0"/>
            <c:bubble3D val="0"/>
            <c:spPr>
              <a:solidFill>
                <a:srgbClr val="3D6B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7D9-4A32-A910-B186B4E0C688}"/>
              </c:ext>
            </c:extLst>
          </c:dPt>
          <c:dPt>
            <c:idx val="4"/>
            <c:invertIfNegative val="0"/>
            <c:bubble3D val="0"/>
            <c:spPr>
              <a:solidFill>
                <a:srgbClr val="5083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7D9-4A32-A910-B186B4E0C688}"/>
              </c:ext>
            </c:extLst>
          </c:dPt>
          <c:dPt>
            <c:idx val="5"/>
            <c:invertIfNegative val="0"/>
            <c:bubble3D val="0"/>
            <c:spPr>
              <a:solidFill>
                <a:srgbClr val="5083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7D9-4A32-A910-B186B4E0C688}"/>
              </c:ext>
            </c:extLst>
          </c:dPt>
          <c:dPt>
            <c:idx val="6"/>
            <c:invertIfNegative val="0"/>
            <c:bubble3D val="0"/>
            <c:spPr>
              <a:solidFill>
                <a:srgbClr val="6B9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7D9-4A32-A910-B186B4E0C688}"/>
              </c:ext>
            </c:extLst>
          </c:dPt>
          <c:dPt>
            <c:idx val="7"/>
            <c:invertIfNegative val="0"/>
            <c:bubble3D val="0"/>
            <c:spPr>
              <a:solidFill>
                <a:srgbClr val="6B9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7D9-4A32-A910-B186B4E0C688}"/>
              </c:ext>
            </c:extLst>
          </c:dPt>
          <c:dPt>
            <c:idx val="8"/>
            <c:invertIfNegative val="0"/>
            <c:bubble3D val="0"/>
            <c:spPr>
              <a:solidFill>
                <a:srgbClr val="A0BF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A7D9-4A32-A910-B186B4E0C688}"/>
              </c:ext>
            </c:extLst>
          </c:dPt>
          <c:dPt>
            <c:idx val="9"/>
            <c:invertIfNegative val="0"/>
            <c:bubble3D val="0"/>
            <c:spPr>
              <a:solidFill>
                <a:srgbClr val="A0BF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7D9-4A32-A910-B186B4E0C68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200GB Broadband</c:v>
                </c:pt>
                <c:pt idx="1">
                  <c:v>3.2GB 2-Day</c:v>
                </c:pt>
                <c:pt idx="2">
                  <c:v>65GB Monthly</c:v>
                </c:pt>
                <c:pt idx="3">
                  <c:v>25GB Monthly</c:v>
                </c:pt>
                <c:pt idx="4">
                  <c:v>300GB Unlimited</c:v>
                </c:pt>
                <c:pt idx="5">
                  <c:v>165GB Monthly</c:v>
                </c:pt>
                <c:pt idx="6">
                  <c:v>30GB Broadband</c:v>
                </c:pt>
                <c:pt idx="7">
                  <c:v>60GB Broadband</c:v>
                </c:pt>
                <c:pt idx="8">
                  <c:v>150GB Unlimited</c:v>
                </c:pt>
                <c:pt idx="9">
                  <c:v>12.5GB Monthly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45.2</c:v>
                </c:pt>
                <c:pt idx="1">
                  <c:v>42.9</c:v>
                </c:pt>
                <c:pt idx="2">
                  <c:v>36.5</c:v>
                </c:pt>
                <c:pt idx="3">
                  <c:v>32.700000000000003</c:v>
                </c:pt>
                <c:pt idx="4">
                  <c:v>30.6</c:v>
                </c:pt>
                <c:pt idx="5">
                  <c:v>28.8</c:v>
                </c:pt>
                <c:pt idx="6">
                  <c:v>28.6</c:v>
                </c:pt>
                <c:pt idx="7">
                  <c:v>25.9</c:v>
                </c:pt>
                <c:pt idx="8">
                  <c:v>24.4</c:v>
                </c:pt>
                <c:pt idx="9">
                  <c:v>21.1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7D9-4A32-A910-B186B4E0C68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US" sz="1000" b="1" i="0" u="none" strike="noStrike">
                <a:solidFill>
                  <a:srgbClr val="0D1B40"/>
                </a:solidFill>
                <a:latin typeface="Arial"/>
              </a:rPr>
              <a:t>Churn Rate by Device Type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101-4A42-A5F3-7752E7951271}"/>
              </c:ext>
            </c:extLst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01-4A42-A5F3-7752E7951271}"/>
              </c:ext>
            </c:extLst>
          </c:dPt>
          <c:dPt>
            <c:idx val="2"/>
            <c:invertIfNegative val="0"/>
            <c:bubble3D val="0"/>
            <c:spPr>
              <a:solidFill>
                <a:srgbClr val="3D6B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101-4A42-A5F3-7752E7951271}"/>
              </c:ext>
            </c:extLst>
          </c:dPt>
          <c:dPt>
            <c:idx val="3"/>
            <c:invertIfNegative val="0"/>
            <c:bubble3D val="0"/>
            <c:spPr>
              <a:solidFill>
                <a:srgbClr val="228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101-4A42-A5F3-7752E795127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Mobile SIM Card</c:v>
                </c:pt>
                <c:pt idx="1">
                  <c:v>4G Router</c:v>
                </c:pt>
                <c:pt idx="2">
                  <c:v>5G Broadband Router</c:v>
                </c:pt>
                <c:pt idx="3">
                  <c:v>Broadband MiFi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31.2</c:v>
                </c:pt>
                <c:pt idx="1">
                  <c:v>30.1</c:v>
                </c:pt>
                <c:pt idx="2">
                  <c:v>27.9</c:v>
                </c:pt>
                <c:pt idx="3">
                  <c:v>26.8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101-4A42-A5F3-7752E795127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US" sz="1000" b="1" i="0" u="none" strike="noStrike">
                <a:solidFill>
                  <a:srgbClr val="0D1B40"/>
                </a:solidFill>
                <a:latin typeface="Arial"/>
              </a:rPr>
              <a:t>Churn Rate by Age Group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A0BFE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0BF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600-4DE8-8F7D-CB582C38C41B}"/>
              </c:ext>
            </c:extLst>
          </c:dPt>
          <c:dPt>
            <c:idx val="1"/>
            <c:invertIfNegative val="0"/>
            <c:bubble3D val="0"/>
            <c:spPr>
              <a:solidFill>
                <a:srgbClr val="6B9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00-4DE8-8F7D-CB582C38C41B}"/>
              </c:ext>
            </c:extLst>
          </c:dPt>
          <c:dPt>
            <c:idx val="2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00-4DE8-8F7D-CB582C38C41B}"/>
              </c:ext>
            </c:extLst>
          </c:dPt>
          <c:dPt>
            <c:idx val="3"/>
            <c:invertIfNegative val="0"/>
            <c:bubble3D val="0"/>
            <c:spPr>
              <a:solidFill>
                <a:srgbClr val="4ADE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600-4DE8-8F7D-CB582C38C41B}"/>
              </c:ext>
            </c:extLst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600-4DE8-8F7D-CB582C38C41B}"/>
              </c:ext>
            </c:extLst>
          </c:dPt>
          <c:dPt>
            <c:idx val="5"/>
            <c:invertIfNegative val="0"/>
            <c:bubble3D val="0"/>
            <c:spPr>
              <a:solidFill>
                <a:srgbClr val="9AB0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600-4DE8-8F7D-CB582C38C41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16–25</c:v>
                </c:pt>
                <c:pt idx="1">
                  <c:v>26–35</c:v>
                </c:pt>
                <c:pt idx="2">
                  <c:v>36–45</c:v>
                </c:pt>
                <c:pt idx="3">
                  <c:v>46–55</c:v>
                </c:pt>
                <c:pt idx="4">
                  <c:v>56–65</c:v>
                </c:pt>
                <c:pt idx="5">
                  <c:v>66+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32.5</c:v>
                </c:pt>
                <c:pt idx="2">
                  <c:v>36.6</c:v>
                </c:pt>
                <c:pt idx="3">
                  <c:v>21.9</c:v>
                </c:pt>
                <c:pt idx="4">
                  <c:v>26.9</c:v>
                </c:pt>
                <c:pt idx="5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600-4DE8-8F7D-CB582C38C41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GB" sz="1100" b="1" i="0" u="none" strike="noStrike">
                <a:solidFill>
                  <a:srgbClr val="FFFFFF"/>
                </a:solidFill>
                <a:latin typeface="Arial"/>
              </a:rPr>
              <a:t>Revenue Distribution (₦)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8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50-4C41-96F9-0EADD6111DEC}"/>
              </c:ext>
            </c:extLst>
          </c:dPt>
          <c:dPt>
            <c:idx val="1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50-4C41-96F9-0EADD6111DEC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50-4C41-96F9-0EADD6111DEC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50-4C41-96F9-0EADD6111DE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Retained Revenue</c:v>
                </c:pt>
                <c:pt idx="1">
                  <c:v>Churned Revenue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141348000</c:v>
                </c:pt>
                <c:pt idx="1">
                  <c:v>58000200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650-4C41-96F9-0EADD6111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B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1228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4864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1E3A7A">
              <a:alpha val="80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229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 NIGERIA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Report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Uncovering the drivers of customer attrition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C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revenue impact across Nigeria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5A623">
              <a:alpha val="15000"/>
            </a:srgbClr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587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2245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23160" y="38404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5A623">
              <a:alpha val="15000"/>
            </a:srgbClr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38587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29.2%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42245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023360" y="384048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5A623">
              <a:alpha val="15000"/>
            </a:srgbClr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38587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₦58M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42245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at Risk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"/>
            <a:ext cx="3200400" cy="3200400"/>
          </a:xfrm>
          <a:prstGeom prst="ellipse">
            <a:avLst/>
          </a:prstGeom>
          <a:solidFill>
            <a:srgbClr val="F5A623">
              <a:alpha val="12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1097280"/>
            <a:ext cx="1920240" cy="1920240"/>
          </a:xfrm>
          <a:prstGeom prst="ellipse">
            <a:avLst/>
          </a:prstGeom>
          <a:solidFill>
            <a:srgbClr val="F5A623">
              <a:alpha val="25000"/>
            </a:srgbClr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1645920"/>
            <a:ext cx="914400" cy="914400"/>
          </a:xfrm>
          <a:prstGeom prst="ellipse">
            <a:avLst/>
          </a:prstGeom>
          <a:solidFill>
            <a:srgbClr val="F5A623">
              <a:alpha val="4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MTN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EMS TECHSphere Analytics  |  Data Period: January – March 2025  |  974 Customer Records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report analyses churn behaviour across 974 MTN Nigeria customers from January to March 2025. Key findings reveal a 29.2% churn rate with ₦58 million in lost revenue, driven primarily by pricing dissatisfaction and competitive pressure.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664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High Churn Rate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" y="1993392"/>
            <a:ext cx="2377440" cy="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057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29.2% of customers (284 of 974) churned within Q1 2025 — nearly 3 in every 10 customers.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664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Revenue Impact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1993392"/>
            <a:ext cx="2377440" cy="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2057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₦58M in revenue lost to churned customers, representing 29.1% of total ₦199.3M generated.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44768" y="1664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Geographic Hotspots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44768" y="1993392"/>
            <a:ext cx="2377440" cy="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2057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Adamawa (61.1%), Imo (51.7%) and Kebbi (48.3%) are the states with highest churn rates.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3218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Top Churn Reason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" y="3547872"/>
            <a:ext cx="2377440" cy="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6118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Call Tariffs is the #1 cited reason (54 customers), followed by competitor offers (52).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31089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10128" y="3218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Device Concern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10128" y="3547872"/>
            <a:ext cx="2377440" cy="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6118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SIM Card users churn most at 31.2%, suggesting network/service quality issues on mobile.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31089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44768" y="3218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Demographics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44768" y="3547872"/>
            <a:ext cx="2377440" cy="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36118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aged 36–45 have the highest churn rate at 36.6%, highlighting mid-career segment risk.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 Nigeria Customer Churn Analysis Report  |  EMS TECHSphere Analytics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8D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2025 Performance Snapshot — 974 Customers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E3A7A">
              <a:alpha val="70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93192" y="20756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93192" y="240487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2025 dataset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468880" y="12344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E3A7A">
              <a:alpha val="70000"/>
            </a:srgbClr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42032" y="20756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Churned Customers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42032" y="240487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in Q1 2025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E3A7A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90872" y="20756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Customers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90872" y="240487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customers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766560" y="12344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E3A7A">
              <a:alpha val="70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4173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29.2%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39712" y="20756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Churn Rate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39712" y="240487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avg ~20%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E3A7A">
              <a:alpha val="70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46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₦199.3M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93192" y="39044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93192" y="423367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Jan–Mar 2025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468880" y="30632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E3A7A">
              <a:alpha val="70000"/>
            </a:srgbClr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246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₦58M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542032" y="39044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Lost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42032" y="423367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churned customers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17720" y="30632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E3A7A">
              <a:alpha val="70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246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33.1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690872" y="39044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Months (Churned)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90872" y="423367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tenure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766560" y="3063240"/>
            <a:ext cx="1920240" cy="1508760"/>
          </a:xfrm>
          <a:prstGeom prst="roundRect">
            <a:avLst>
              <a:gd name="adj" fmla="val 7273"/>
            </a:avLst>
          </a:prstGeom>
          <a:solidFill>
            <a:srgbClr val="1E3A7A">
              <a:alpha val="7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3246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839712" y="39044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Satisfaction (Churned)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39712" y="423367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5.0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 Nigeria Customer Churn Analysis Report  |  EMS TECHSphere Analytics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11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777240"/>
          <a:ext cx="4114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82296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46320" y="914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by Gender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46320" y="129844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50992" y="1344168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50992" y="1344168"/>
            <a:ext cx="692658" cy="182880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12984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30.3%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0" y="17739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50992" y="1819656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50992" y="1819656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17739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246888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46320" y="25603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Tenure by Status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46320" y="29443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06440" y="2990088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06440" y="2990088"/>
            <a:ext cx="1891665" cy="182880"/>
          </a:xfrm>
          <a:prstGeom prst="roundRect">
            <a:avLst>
              <a:gd name="adj" fmla="val 25000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38160" y="2944368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33.1 mo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46320" y="34015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06440" y="3447288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06440" y="3447288"/>
            <a:ext cx="1754505" cy="182880"/>
          </a:xfrm>
          <a:prstGeom prst="roundRect">
            <a:avLst>
              <a:gd name="adj" fmla="val 25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38160" y="3401568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30.7 mo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4005072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FEF3C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0600" y="4069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Insight: Churned customers had slightly longer tenures (33.1 vs 30.7 months), suggesting dissatisfaction accumulates over time before customers leave.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 Nigeria Customer Churn Analysis Report  |  EMS TECHSphere Analytics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FOR CUSTOMER CHURN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11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077627980"/>
              </p:ext>
            </p:extLst>
          </p:nvPr>
        </p:nvGraphicFramePr>
        <p:xfrm>
          <a:off x="365760" y="777240"/>
          <a:ext cx="53035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804672"/>
            <a:ext cx="2926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0" y="80467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8412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Call Tariffs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89320" y="10241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customers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11312" y="87782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1325880"/>
            <a:ext cx="2926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52160" y="1325880"/>
            <a:ext cx="73152" cy="43891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136245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Offers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89320" y="15453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customers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11312" y="139903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52160" y="1847088"/>
            <a:ext cx="2926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52160" y="1847088"/>
            <a:ext cx="73152" cy="43891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1883664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Network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89320" y="20665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customers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11312" y="19202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52160" y="2368296"/>
            <a:ext cx="2926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52160" y="2368296"/>
            <a:ext cx="73152" cy="43891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240487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 Data Plans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989320" y="25877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customers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211312" y="244144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852160" y="2889504"/>
            <a:ext cx="2926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852160" y="2889504"/>
            <a:ext cx="73152" cy="43891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89320" y="29260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Cust. Service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989320" y="3108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customers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211312" y="296265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52160" y="3410712"/>
            <a:ext cx="2926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852160" y="341071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89320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Data Usage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989320" y="36301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customers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211312" y="348386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852160" y="3931920"/>
            <a:ext cx="29260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852160" y="3931920"/>
            <a:ext cx="73152" cy="43891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89320" y="396849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Relocation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989320" y="41513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customers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211312" y="400507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9.5%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 Nigeria Customer Churn Analysis Report  |  EMS TECHSphere Analytics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CHURN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11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170447485"/>
              </p:ext>
            </p:extLst>
          </p:nvPr>
        </p:nvGraphicFramePr>
        <p:xfrm>
          <a:off x="365760" y="777240"/>
          <a:ext cx="53035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8412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Performance Summary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1207008"/>
            <a:ext cx="3017520" cy="29260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20700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748272" y="120700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69480" y="120700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936992" y="120700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503920" y="120700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852160" y="1499616"/>
            <a:ext cx="3017520" cy="384048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149961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Adamawa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748272" y="149961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269480" y="149961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936992" y="149961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61.1%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503920" y="149961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52160" y="1901952"/>
            <a:ext cx="3017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97880" y="19019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748272" y="190195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269480" y="19019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936992" y="19019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503920" y="190195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852160" y="2304288"/>
            <a:ext cx="3017520" cy="384048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97880" y="230428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Kebbi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748272" y="230428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269480" y="230428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936992" y="230428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48.3%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503920" y="230428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52160" y="2706624"/>
            <a:ext cx="3017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97880" y="270662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Benue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748272" y="270662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269480" y="270662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936992" y="270662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46.4%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503920" y="270662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852160" y="3108960"/>
            <a:ext cx="3017520" cy="384048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97880" y="31089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Yobe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748272" y="31089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269480" y="31089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936992" y="310896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38.2%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503920" y="310896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852160" y="3511296"/>
            <a:ext cx="3017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897880" y="351129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Anambra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748272" y="35112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7269480" y="351129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936992" y="351129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37.9%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8503920" y="351129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852160" y="3913632"/>
            <a:ext cx="3017520" cy="384048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897880" y="391363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Abuja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748272" y="391363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269480" y="391363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7936992" y="391363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35.7%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8503920" y="391363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5852160" y="4315968"/>
            <a:ext cx="3017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897880" y="431596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Edo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6748272" y="43159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7269480" y="431596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7936992" y="431596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33.3%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8503920" y="431596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 Nigeria Customer Churn Analysis Report  |  EMS TECHSphere Analytics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PLAN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11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705795687"/>
              </p:ext>
            </p:extLst>
          </p:nvPr>
        </p:nvGraphicFramePr>
        <p:xfrm>
          <a:off x="365760" y="777240"/>
          <a:ext cx="53035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822960"/>
            <a:ext cx="2971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240">
            <a:solidFill>
              <a:srgbClr val="E53E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89320" y="87782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Risk Plan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893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200GB Broadband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1389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45.2% churn rate — nearly half of subscribers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852160" y="1847088"/>
            <a:ext cx="2971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240">
            <a:solidFill>
              <a:srgbClr val="F5A62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89320" y="190195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Plan Risk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989320" y="2121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3.2GB 2-Day Plan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89320" y="24140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42.9% churn — suggests trial-and-leave behavior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52160" y="2871216"/>
            <a:ext cx="2971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240">
            <a:solidFill>
              <a:srgbClr val="3D6B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89320" y="29260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Volume Churner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89320" y="31455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65GB Monthly Plan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89320" y="34381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churned from 63 subscribers (36.5%)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852160" y="3895344"/>
            <a:ext cx="2971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240">
            <a:solidFill>
              <a:srgbClr val="22863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989320" y="395020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 Plan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989320" y="4169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60GB Broadband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89320" y="4462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subscribers — 25.9% churn rate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 Nigeria Customer Churn Analysis Report  |  EMS TECHSphere Analytics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&amp; DEMOGRAPHIC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11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826877661"/>
              </p:ext>
            </p:extLst>
          </p:nvPr>
        </p:nvGraphicFramePr>
        <p:xfrm>
          <a:off x="365760" y="777240"/>
          <a:ext cx="42976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3435557797"/>
              </p:ext>
            </p:extLst>
          </p:nvPr>
        </p:nvGraphicFramePr>
        <p:xfrm>
          <a:off x="365760" y="2880360"/>
          <a:ext cx="42976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937760" y="80467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074920" y="868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Mobile SIM — Highest Risk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07492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31.2% churn rate; mobile users may be more exposed to competitor SIM swapping and network issues.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937760" y="185623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07492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5G Router — Best Performer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074920" y="2240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being a premium product, 5G Router sees lower churn at 27.9%, hinting at product satisfaction.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937760" y="290779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07492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👨‍💼  36–45 Most Likely to Leave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074920" y="3291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Mid-career adults aged 36–45 have the highest churn at 36.6%, possibly driven by price sensitivity.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937760" y="395935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074920" y="4023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👴  Seniors Stay Longer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074920" y="4343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aged 46–55 have the lowest churn (21.9%), suggesting brand loyalty in older segments.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 Nigeria Customer Churn Analysis Report  |  EMS TECHSphere Analytics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IMPACT ANALYSIS</a:t>
            </a:r>
            <a:endParaRPr lang="en-US" sz="11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841248"/>
          <a:ext cx="4023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4663440" y="841248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1E3A7A">
              <a:alpha val="80000"/>
            </a:srgbClr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00600" y="8869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Generated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800600" y="115214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₦199,348,200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800600" y="1389888"/>
            <a:ext cx="3200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974 customers Q1 2025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663440" y="1645920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1E3A7A">
              <a:alpha val="80000"/>
            </a:srgbClr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6916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from Retained Customers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800600" y="19568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₦141,348,000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00600" y="2194560"/>
            <a:ext cx="3200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70.9% of total revenue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63440" y="2450592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1E3A7A">
              <a:alpha val="80000"/>
            </a:srgbClr>
          </a:solidFill>
          <a:ln w="15240">
            <a:solidFill>
              <a:srgbClr val="F8717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24963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Lost to Churn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800600" y="27614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₦58,000,200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800600" y="2999232"/>
            <a:ext cx="3200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29.1% of total revenue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663440" y="3255264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1E3A7A">
              <a:alpha val="80000"/>
            </a:srgbClr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33009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Revenue per Churned Customer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80060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₦204,226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800600" y="3803904"/>
            <a:ext cx="3200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churned customer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63440" y="4059936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1E3A7A">
              <a:alpha val="80000"/>
            </a:srgbClr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41056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Revenue per Retained Customer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800600" y="43708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₦204,852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800600" y="4608576"/>
            <a:ext cx="3200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retained customer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65760" y="443484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1A0A0A">
              <a:alpha val="7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4622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Annualised Risk: If the 29.2% churn rate continues, MTN Nigeria could lose approximately ₦232M in revenue annually. Retaining even 50% of churned customers could recover ₦29M+ per quarter.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8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 Nigeria Customer Churn Analysis Report  |  EMS TECHSphere Analytics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of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4114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50392"/>
            <a:ext cx="402336" cy="402336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50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8686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Tariff &amp; Data Pricing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47872" y="868680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86868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1271016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call tariffs and costly data plans are the top two churn drivers. Introduce flexible micro-plans, bundle discounts, and loyalty pricing for long-tenure customers to reduce cost-sensitivity attrition.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36592" y="777240"/>
            <a:ext cx="4114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850392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850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8686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Response Programme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36992" y="868680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6992" y="86868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46320" y="1271016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 retention desk to flag customers researching competitors. Offer targeted win-back promotions with 3-month discounts or data bonus incentives to at-risk subscribers.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2194560"/>
            <a:ext cx="4114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267712"/>
            <a:ext cx="402336" cy="402336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22860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Upgrades in High-Churn States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47872" y="2286000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228600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2688336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network infrastructure upgrades in Adamawa, Imo and Kebbi — all with 48%+ churn rates — to tackle poor network as a churn driver in those regions.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36592" y="2194560"/>
            <a:ext cx="4114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267712"/>
            <a:ext cx="402336" cy="402336"/>
          </a:xfrm>
          <a:prstGeom prst="ellipse">
            <a:avLst/>
          </a:prstGeom>
          <a:solidFill>
            <a:srgbClr val="3D6BB8"/>
          </a:solidFill>
          <a:ln w="12700">
            <a:solidFill>
              <a:srgbClr val="3D6B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22860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SIM Card Retention Strategy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36992" y="2286000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EBF5EE"/>
          </a:solidFill>
          <a:ln w="12700">
            <a:solidFill>
              <a:srgbClr val="EBF5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36992" y="228600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8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46320" y="2688336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Mobile SIM Card users show the highest churn (31.2%), deploy targeted notifications and exclusive mobile-only offers to strengthen engagement in this segment.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7472" y="3611880"/>
            <a:ext cx="4114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685032"/>
            <a:ext cx="402336" cy="402336"/>
          </a:xfrm>
          <a:prstGeom prst="ellipse">
            <a:avLst/>
          </a:prstGeom>
          <a:solidFill>
            <a:srgbClr val="3D6BB8"/>
          </a:solidFill>
          <a:ln w="12700">
            <a:solidFill>
              <a:srgbClr val="3D6B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37033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Mid-Career Segment (36–45) Focus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547872" y="3703320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EBF5EE"/>
          </a:solidFill>
          <a:ln w="12700">
            <a:solidFill>
              <a:srgbClr val="EBF5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70332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8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57200" y="4105656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age group shows 36.6% churn. Design career-professional bundles with stable pricing, premium data, and B2B-lite packages to appeal to this demographic.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36592" y="3611880"/>
            <a:ext cx="4114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685032"/>
            <a:ext cx="402336" cy="402336"/>
          </a:xfrm>
          <a:prstGeom prst="ellipse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03520" y="37033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 Quality Overhaul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936992" y="3703320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EBF5EE"/>
          </a:solidFill>
          <a:ln w="12700">
            <a:solidFill>
              <a:srgbClr val="EBF5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36992" y="370332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8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846320" y="4105656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customer service caused 34 churns (12%). Invest in agent training, resolution time KPIs, and a proactive callback programme for unresolved complaints.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82896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 Nigeria Customer Churn Analysis Report  |  EMS TECHSphere Analytics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NEXT STEPS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1E3A7A">
              <a:alpha val="75000"/>
            </a:srgbClr>
          </a:solidFill>
          <a:ln w="10160">
            <a:solidFill>
              <a:srgbClr val="406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analysis reveals a critical 29.2% churn rate consuming ₦58M in revenue — nearly one-third of MTN Nigeria's Q1 2025 income. The root causes are clear: pricing pressure, competitive threats, network quality gaps, and under-served regional markets. With focused interventions, MTN can realistically reduce churn by 10–15 percentage points within two quarters.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2395728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E3A7A">
              <a:alpha val="85000"/>
            </a:srgbClr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2395728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2578608"/>
            <a:ext cx="269748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(0–30 days)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880360"/>
            <a:ext cx="2267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call tariff &amp; data pricing structures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447288"/>
            <a:ext cx="2267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customer retention hotline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4059936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4014216"/>
            <a:ext cx="2267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top 50 at-risk customers by tenure &amp; satisfaction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2395728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E3A7A">
              <a:alpha val="85000"/>
            </a:srgbClr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2395728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578608"/>
            <a:ext cx="269748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423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(1–3 months)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10128" y="2926080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9584" y="2880360"/>
            <a:ext cx="2267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network upgrades in Adamawa, Imo, Kebbi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10128" y="3493008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9584" y="3447288"/>
            <a:ext cx="2267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loyalty pricing tier for 24+ month customers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10128" y="4059936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9584" y="4014216"/>
            <a:ext cx="2267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competitive win-back campaign in high-churn states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53328" y="2395728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E3A7A">
              <a:alpha val="85000"/>
            </a:srgbClr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53328" y="2395728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53328" y="2578608"/>
            <a:ext cx="269748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2423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(3–6 months)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63056" y="2926080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2880360"/>
            <a:ext cx="2267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predictive churn model using customer data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63056" y="3493008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3447288"/>
            <a:ext cx="2267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36–45 demographic-specific product bundles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63056" y="4059936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4014216"/>
            <a:ext cx="2267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NPS-based early warning system for churn signals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EMS TECHSphere Analytics  |  Mike Okereke  |  Data Period: Q1 2025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1240</Words>
  <Application>Microsoft Office PowerPoint</Application>
  <PresentationFormat>On-screen Show (16:9)</PresentationFormat>
  <Paragraphs>251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MTN Nigeria Customer Churn Analysis</dc:title>
  <dc:subject>PptxGenJS Presentation</dc:subject>
  <dc:creator>EMS TECHSphere Analytics</dc:creator>
  <cp:lastModifiedBy>michael mark</cp:lastModifiedBy>
  <cp:revision>2</cp:revision>
  <dcterms:created xsi:type="dcterms:W3CDTF">2026-06-28T18:26:10Z</dcterms:created>
  <dcterms:modified xsi:type="dcterms:W3CDTF">2026-06-28T19:48:08Z</dcterms:modified>
</cp:coreProperties>
</file>